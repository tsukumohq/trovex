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8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13232"/>
            <a:ext cx="274320" cy="274320"/>
          </a:xfrm>
          <a:prstGeom prst="rect">
            <a:avLst/>
          </a:prstGeom>
          <a:solidFill>
            <a:srgbClr val="C8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603504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2400" b="1">
                <a:solidFill>
                  <a:srgbClr val="F3F1EA"/>
                </a:solidFill>
                <a:latin typeface="Archivo"/>
              </a:rPr>
              <a:t>tsukumo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676656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95000"/>
              </a:lnSpc>
            </a:pPr>
            <a:r>
              <a:rPr sz="1300" b="0">
                <a:solidFill>
                  <a:srgbClr val="B8B3A8"/>
                </a:solidFill>
                <a:latin typeface="Space Mono"/>
              </a:rPr>
              <a:t>a dev studio + AI consulting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8600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sz="8800" b="1">
                <a:solidFill>
                  <a:srgbClr val="F3F1EA"/>
                </a:solidFill>
                <a:latin typeface="Archivo"/>
              </a:rPr>
              <a:t>run AI in</a:t>
            </a:r>
          </a:p>
          <a:p>
            <a:pPr algn="l">
              <a:lnSpc>
                <a:spcPct val="90000"/>
              </a:lnSpc>
            </a:pPr>
            <a:r>
              <a:rPr sz="8800" b="1">
                <a:solidFill>
                  <a:srgbClr val="C8FF00"/>
                </a:solidFill>
                <a:latin typeface="Archivo"/>
              </a:rPr>
              <a:t>production.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257800"/>
            <a:ext cx="1005840" cy="91440"/>
          </a:xfrm>
          <a:prstGeom prst="rect">
            <a:avLst/>
          </a:prstGeom>
          <a:solidFill>
            <a:srgbClr val="C8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F3F1EA"/>
                </a:solidFill>
                <a:latin typeface="Space Mono"/>
              </a:rPr>
              <a:t>agentic operators for your dev team — augment, never replace.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C8FF00"/>
                </a:solidFill>
                <a:latin typeface="Space Mono"/>
              </a:rPr>
              <a:t>tsukumo.ch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8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C8FF00"/>
                </a:solidFill>
                <a:latin typeface="Space Mono"/>
              </a:rPr>
              <a:t>section · 0X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560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sz="11000" b="1">
                <a:solidFill>
                  <a:srgbClr val="F3F1EA"/>
                </a:solidFill>
                <a:latin typeface="Archivo"/>
              </a:rPr>
              <a:t>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1280160" cy="109728"/>
          </a:xfrm>
          <a:prstGeom prst="rect">
            <a:avLst/>
          </a:prstGeom>
          <a:solidFill>
            <a:srgbClr val="C8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8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C8FF00"/>
                </a:solidFill>
                <a:latin typeface="Space Mono"/>
              </a:rPr>
              <a:t>01 —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887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F3F1EA"/>
                </a:solidFill>
                <a:latin typeface="Archivo"/>
              </a:rPr>
              <a:t>a section title goes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97480"/>
            <a:ext cx="10698480" cy="17780"/>
          </a:xfrm>
          <a:prstGeom prst="rect">
            <a:avLst/>
          </a:prstGeom>
          <a:solidFill>
            <a:srgbClr val="393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F3F1EA"/>
                </a:solidFill>
                <a:latin typeface="Space Mono"/>
              </a:rPr>
              <a:t>— point one, kept short and declarative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F3F1EA"/>
                </a:solidFill>
                <a:latin typeface="Space Mono"/>
              </a:rPr>
              <a:t>— point two, qualitative (no fabricated numbers)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F3F1EA"/>
                </a:solidFill>
                <a:latin typeface="Space Mono"/>
              </a:rPr>
              <a:t>— point three, one idea per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C8FF00"/>
                </a:solidFill>
                <a:latin typeface="Space Mono"/>
              </a:rPr>
              <a:t>tsukumo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8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C8FF00"/>
                </a:solidFill>
                <a:latin typeface="Space Mono"/>
              </a:rPr>
              <a:t>case ·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5720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95000"/>
              </a:lnSpc>
            </a:pPr>
            <a:r>
              <a:rPr sz="6400" b="1">
                <a:solidFill>
                  <a:srgbClr val="1B1A18"/>
                </a:solidFill>
                <a:latin typeface="Archiv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031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3F1EA"/>
                </a:solidFill>
                <a:latin typeface="Archivo"/>
              </a:rPr>
              <a:t>our own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840480"/>
            <a:ext cx="1005840" cy="91440"/>
          </a:xfrm>
          <a:prstGeom prst="rect">
            <a:avLst/>
          </a:prstGeom>
          <a:solidFill>
            <a:srgbClr val="C8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F3F1EA"/>
                </a:solidFill>
                <a:latin typeface="Space Mono"/>
              </a:rPr>
              <a:t>we run agents in production: WRAI.TH (orchestration),</a:t>
            </a:r>
          </a:p>
          <a:p>
            <a:pPr algn="l">
              <a:lnSpc>
                <a:spcPct val="140000"/>
              </a:lnSpc>
            </a:pPr>
            <a:r>
              <a:rPr sz="2000" b="0">
                <a:solidFill>
                  <a:srgbClr val="F3F1EA"/>
                </a:solidFill>
                <a:latin typeface="Space Mono"/>
              </a:rPr>
              <a:t>trovex (context), yoru (observability) — open source.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0">
                <a:solidFill>
                  <a:srgbClr val="B8B3A8"/>
                </a:solidFill>
                <a:latin typeface="Space Mono"/>
              </a:rPr>
              <a:t>the studio is the proof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8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C8FF00"/>
                </a:solidFill>
                <a:latin typeface="Space Mono"/>
              </a:rPr>
              <a:t>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C8FF00"/>
                </a:solidFill>
                <a:latin typeface="Archivo"/>
              </a:rPr>
              <a:t>let's talk.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3F1EA"/>
                </a:solidFill>
                <a:latin typeface="Space Mono"/>
              </a:rPr>
              <a:t>tsukumo.ch  ·  [ contact email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>
                <a:solidFill>
                  <a:srgbClr val="B8B3A8"/>
                </a:solidFill>
                <a:latin typeface="Space Mono"/>
              </a:rPr>
              <a:t>a dev studio + AI consulting · augment, never replace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